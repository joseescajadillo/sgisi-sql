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Introducción: presentar el proyecto SGISI, un sistema de gestión de incidentes de seguridad informática desarrollado para el curso Base de Datos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problema de negocio: hojas de cálculo compartidas, pérdida de información, duplicidad, falta de trazabilidad. SGISI centraliza todo 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Repasar las primeras 5 restricciones de cardinalidad y la especialización disjunta entre Supervisor y Supervisado.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relación N:M (incidente-activo) y la bitácora de auditoría, que se asocia al analista pero deliberadamente no al incidente por FK directa.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para pegar la captura del diagrama ER completo de SGISI.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funcion y procedimiento, luego mencionar los ejemplos. Recalcar que los 5 procedimientos de escritura usan transacciones explicitas.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trigger y cursor. El cursor es el requisito puntual que pidio el profesor para la aplicacion en C#.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app en vivo si es posible: iniciar sesion como admin y como cliente para ver la diferencia del enmascaramiento.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web en el navegador si es posible: iniciar sesion, navegar Analistas y comparar con la vista de escritorio.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Abrir espacio a preguntas del profesor.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29800" y="685800"/>
            <a:ext cx="1554480" cy="1554480"/>
          </a:xfrm>
          <a:prstGeom prst="ellipse">
            <a:avLst/>
          </a:prstGeom>
          <a:solidFill>
            <a:srgbClr val="1B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1508760"/>
            <a:ext cx="822960" cy="822960"/>
          </a:xfrm>
          <a:prstGeom prst="ellipse">
            <a:avLst/>
          </a:prstGeom>
          <a:solidFill>
            <a:srgbClr val="13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2057400"/>
            <a:ext cx="457200" cy="457200"/>
          </a:xfrm>
          <a:prstGeom prst="ellipse">
            <a:avLst/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371600"/>
            <a:ext cx="128016" cy="128016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PROYECTO DE BASE DE DATOS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91440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mbria"/>
              </a:rPr>
              <a:t>SGISI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3375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9FB3D1"/>
                </a:solidFill>
                <a:latin typeface="Calibri"/>
              </a:rPr>
              <a:t>Sistema de Gestión de Incidentes de Seguridad Informática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B3D1"/>
                </a:solidFill>
                <a:latin typeface="Calibri"/>
              </a:rPr>
              <a:t>Base de Datos I (CBS04M)  ·  Universidad Nacional de Ingeniería  ·  Escuela de Ingeniería en Ciberseguridad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Cambria"/>
              </a:rPr>
              <a:t>¿Por qué existe SGISI?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Una empresa peruana de consultoría en ciberseguridad brinda servicios de monitoreo y respuesta a varias organizaciones.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Antes, toda la información se registraba en hojas de cálculo compartidas, lo que generaba tres problemas concretos en la operación diaria.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SGISI centraliza organizaciones, analistas, activos, vulnerabilidades, alertas, incidentes, reportes y una bitácora de auditoría en una sola base de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691640"/>
            <a:ext cx="4480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9659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8F82"/>
                </a:solidFill>
                <a:latin typeface="Calibri"/>
              </a:rPr>
              <a:t>PROBLEMAS QUE RESUELVE</a:t>
            </a:r>
          </a:p>
        </p:txBody>
      </p:sp>
      <p:sp>
        <p:nvSpPr>
          <p:cNvPr id="7" name="Oval 6"/>
          <p:cNvSpPr/>
          <p:nvPr/>
        </p:nvSpPr>
        <p:spPr>
          <a:xfrm>
            <a:off x="7406640" y="256032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32888"/>
            <a:ext cx="3291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Pérdida de información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96265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Datos dispersos en hojas de cálculo sin respaldo centralizado.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356616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538728"/>
            <a:ext cx="3291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Duplicidad de registros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96849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Un mismo incidente registrado varias veces por distintos analistas.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457200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544568"/>
            <a:ext cx="3291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Falta de trazabilidad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97433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Imposible saber qué activo fue comprometido y cuándo se resolvió.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RESTRICCIONES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mbria"/>
              </a:rPr>
              <a:t>Reglas de negocio del diagrama ER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1" y="182880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5564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 analista pertenece a una única organización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26771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1:N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78892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1576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 activo pertenece a una única organización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22783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1:N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3016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1" y="3749039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5887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 analista es Supervisor o Supervisado, nunca ambos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418795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Disjunción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9028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70916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3600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 supervisor tiene varios analistas supervisados a su cargo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514807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1:N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5040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566928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9612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Cada vulnerabilidad pertenece a un único activo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610819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1:N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RESTRICCIONES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mbria"/>
              </a:rPr>
              <a:t>Reglas de negocio del diagrama ER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1" y="182880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5564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Cada incidente tiene un único analista responsable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26771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1:N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78892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1576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Una alerta puede escalar a un incidente o a ninguno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22783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Opcional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3016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1" y="3749039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75887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 incidente puede afectar a varios activos y viceversa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418795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N:M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9028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70916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3600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Un reporte pertenece a un único incidente y un analista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514807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1:N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50408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5669280"/>
            <a:ext cx="347472" cy="347472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96128"/>
            <a:ext cx="4251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Cada registro de bitácora se asocia a un analista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6108192"/>
            <a:ext cx="1188720" cy="246888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008F82"/>
                </a:solidFill>
                <a:latin typeface="Calibri"/>
              </a:rPr>
              <a:t>1:N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" y="5257800"/>
            <a:ext cx="1554480" cy="1554480"/>
          </a:xfrm>
          <a:prstGeom prst="ellipse">
            <a:avLst/>
          </a:prstGeom>
          <a:solidFill>
            <a:srgbClr val="1B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65960" y="6080759"/>
            <a:ext cx="822960" cy="822960"/>
          </a:xfrm>
          <a:prstGeom prst="ellipse">
            <a:avLst/>
          </a:prstGeom>
          <a:solidFill>
            <a:srgbClr val="13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" y="6629400"/>
            <a:ext cx="457200" cy="457200"/>
          </a:xfrm>
          <a:prstGeom prst="ellipse">
            <a:avLst/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mbria"/>
              </a:rPr>
              <a:t>Diagrama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06240"/>
            <a:ext cx="8165592" cy="1920240"/>
          </a:xfrm>
          <a:prstGeom prst="roundRect">
            <a:avLst>
              <a:gd name="adj" fmla="val 6000"/>
            </a:avLst>
          </a:prstGeom>
          <a:solidFill>
            <a:srgbClr val="0B1E3D"/>
          </a:solidFill>
          <a:ln w="15875">
            <a:solidFill>
              <a:srgbClr val="00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029200"/>
            <a:ext cx="8165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FB3D1"/>
                </a:solidFill>
                <a:latin typeface="Calibri"/>
              </a:rPr>
              <a:t>Inserta aquí la captura del diagrama entidad-relación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COMANDOS DE LA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mbria"/>
              </a:rPr>
              <a:t>Funciones y Procedimientos Almacenados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029967"/>
            <a:ext cx="502920" cy="502920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FUNCIONES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9748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Reciben parámetros y devuelven un valor o una tabla; se usan dentro de consultas y no modifican datos.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19" y="3611879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fn_BuscarIncidente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" y="3977639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fn_BuscarAnalista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19" y="4343400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fn_HistorialIncidentesPorActivo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19" y="4709160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fn_ContarIncidentesPorAnalista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19" y="5074920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fn_SeveridadPromedioOrganizacion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19" y="5440679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fn_ListarActivosCriticos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3736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59" y="2029967"/>
            <a:ext cx="502920" cy="502920"/>
          </a:xfrm>
          <a:prstGeom prst="ellipse">
            <a:avLst/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5740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PROCEDIMIENTOS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69748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Ejecutan acciones sobre los datos, protegidas con transacciones (BEGIN TRAN / COMMIT / ROLLBACK).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59" y="3611879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sp_RegistrarIncidente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59" y="3977639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sp_CerrarIncidente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4343400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sp_RegistrarAlerta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59" y="4709160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sp_AsignarActivoAIncidente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59" y="5074920"/>
            <a:ext cx="4617720" cy="310896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100">
                <a:solidFill>
                  <a:srgbClr val="1E293B"/>
                </a:solidFill>
                <a:latin typeface="Courier New"/>
              </a:rPr>
              <a:t>sp_GenerarReporte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COMANDOS DE LA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mbria"/>
              </a:rPr>
              <a:t>Triggers y Cursor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029967"/>
            <a:ext cx="502920" cy="502920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Se ejecutan automáticamente ante un INSERT, UPDATE o DELETE, sin que nadie los invoque.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429000"/>
            <a:ext cx="292608" cy="292608"/>
          </a:xfrm>
          <a:prstGeom prst="ellipse">
            <a:avLst/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3401568"/>
            <a:ext cx="4160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trg_ActualizarNumActivos (Insert/Update/Delete)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83133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Mantiene el contador de activos de cada organización.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960119" y="4206240"/>
            <a:ext cx="292608" cy="292608"/>
          </a:xfrm>
          <a:prstGeom prst="ellipse">
            <a:avLst/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178807"/>
            <a:ext cx="4160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trg_Validar...Disjunta /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460857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Impiden que un analista sea Supervisor y Supervisado a la vez.</a:t>
            </a:r>
          </a:p>
        </p:txBody>
      </p:sp>
      <p:sp>
        <p:nvSpPr>
          <p:cNvPr id="14" name="Oval 13"/>
          <p:cNvSpPr/>
          <p:nvPr/>
        </p:nvSpPr>
        <p:spPr>
          <a:xfrm>
            <a:off x="960119" y="4983480"/>
            <a:ext cx="292608" cy="292608"/>
          </a:xfrm>
          <a:prstGeom prst="ellipse">
            <a:avLst/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956048"/>
            <a:ext cx="41605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  <a:latin typeface="Calibri"/>
              </a:rPr>
              <a:t>trg_AuditarIncidente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53858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Registra en BITACORA cada cambio sobre un incidente.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73736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59" y="2029967"/>
            <a:ext cx="502920" cy="502920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1E3D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57400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CURSOR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697480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B3D1"/>
                </a:solidFill>
                <a:latin typeface="Calibri"/>
              </a:rPr>
              <a:t>Recorre un resultado fila por fila, en vez de procesar todo el conjunto de una sola vez.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59" y="3474720"/>
            <a:ext cx="4617720" cy="384048"/>
          </a:xfrm>
          <a:prstGeom prst="roundRect">
            <a:avLst>
              <a:gd name="adj" fmla="val 50000"/>
            </a:avLst>
          </a:prstGeom>
          <a:solidFill>
            <a:srgbClr val="13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200">
                <a:solidFill>
                  <a:srgbClr val="00D9C5"/>
                </a:solidFill>
                <a:latin typeface="Courier New"/>
              </a:rPr>
              <a:t>sp_ResumenSeguridadPorAnalista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4069079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B3D1"/>
                </a:solidFill>
                <a:latin typeface="Calibri"/>
              </a:rPr>
              <a:t>Recorre cada analista y, para cada uno, invoca fn_ContarIncidentesPorAnalista y fn_SeveridadPromedioOrganizacion, consolidando el resultado en un único reporte de resumen.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APLICACIÓN DE ESCRITORIO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mbria"/>
              </a:rPr>
              <a:t>SGISI_App (Windows Forms)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1755648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Login con credenciales reales de SQL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218541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No hay usuarios ficticios en el código: cada persona inicia sesión con su login real.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852928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Roles Admin /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28269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SQL Server determina el rol (db_owner o permiso UNMASK); la app solo muestra un banner.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77639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950207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15 botones para las 10 entidades del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437997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Incidentes, Analistas, Bitácora, Organizaciones, Activos, Vulnerabilidades y más.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047488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Enmascaramiento visible en vivo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547725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El mismo botón muestra datos reales o enmascarados según quién inició sesión.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783080"/>
            <a:ext cx="548640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783080"/>
            <a:ext cx="5486400" cy="365760"/>
          </a:xfrm>
          <a:prstGeom prst="roundRect">
            <a:avLst>
              <a:gd name="adj" fmla="val 0"/>
            </a:avLst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63640" y="1901952"/>
            <a:ext cx="128016" cy="128016"/>
          </a:xfrm>
          <a:prstGeom prst="ellipse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901952"/>
            <a:ext cx="128016" cy="128016"/>
          </a:xfrm>
          <a:prstGeom prst="ellipse">
            <a:avLst/>
          </a:prstGeom>
          <a:solidFill>
            <a:srgbClr val="E0B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40" y="1901952"/>
            <a:ext cx="128016" cy="128016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837943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SGISI - Gestión de Incidentes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3317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000">
                <a:solidFill>
                  <a:srgbClr val="008F82"/>
                </a:solidFill>
                <a:latin typeface="Calibri"/>
              </a:rPr>
              <a:t>Conectar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3317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000">
                <a:solidFill>
                  <a:srgbClr val="008F82"/>
                </a:solidFill>
                <a:latin typeface="Calibri"/>
              </a:rPr>
              <a:t>Mostrar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3317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000">
                <a:solidFill>
                  <a:srgbClr val="008F82"/>
                </a:solidFill>
                <a:latin typeface="Calibri"/>
              </a:rPr>
              <a:t>Resumen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7889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000">
                <a:solidFill>
                  <a:srgbClr val="008F82"/>
                </a:solidFill>
                <a:latin typeface="Calibri"/>
              </a:rPr>
              <a:t>Bitácora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7889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000">
                <a:solidFill>
                  <a:srgbClr val="008F82"/>
                </a:solidFill>
                <a:latin typeface="Calibri"/>
              </a:rPr>
              <a:t>Analistas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7889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1000">
                <a:solidFill>
                  <a:srgbClr val="008F82"/>
                </a:solidFill>
                <a:latin typeface="Calibri"/>
              </a:rPr>
              <a:t>Auditoría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47472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3611879"/>
            <a:ext cx="4846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4114800"/>
            <a:ext cx="4846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4617720"/>
            <a:ext cx="4846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5120640"/>
            <a:ext cx="4846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9C5"/>
                </a:solidFill>
                <a:latin typeface="Calibri"/>
              </a:rPr>
              <a:t>COMPLEMENTO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Cambria"/>
              </a:rPr>
              <a:t>SGISI_Web (ASP.NET Core Razor Pages)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1755648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Mismo login real, mismo motor de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218541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La web no reinventa la autenticación: reutiliza los mismos logins de SQL Server.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852928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Sesión por navegador, no una variable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28269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Varias personas pueden conectarse a la vez con usuarios distintos sin mezclarse.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77639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950207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Menú “Más entidades”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437997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Organizaciones, Activos, Vulnerabilidades, Alertas, Supervisión y Reportes.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5047488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Alcance de solo lectura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547725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Deliberadamente no permite registrar ni cerrar incidentes desde la web.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783080"/>
            <a:ext cx="5486400" cy="461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783080"/>
            <a:ext cx="5486400" cy="365760"/>
          </a:xfrm>
          <a:prstGeom prst="roundRect">
            <a:avLst>
              <a:gd name="adj" fmla="val 0"/>
            </a:avLst>
          </a:prstGeom>
          <a:solidFill>
            <a:srgbClr val="13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63640" y="1901952"/>
            <a:ext cx="128016" cy="128016"/>
          </a:xfrm>
          <a:prstGeom prst="ellipse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1901952"/>
            <a:ext cx="128016" cy="128016"/>
          </a:xfrm>
          <a:prstGeom prst="ellipse">
            <a:avLst/>
          </a:prstGeom>
          <a:solidFill>
            <a:srgbClr val="E0B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40" y="1901952"/>
            <a:ext cx="128016" cy="128016"/>
          </a:xfrm>
          <a:prstGeom prst="ellipse">
            <a:avLst/>
          </a:prstGeom>
          <a:solidFill>
            <a:srgbClr val="00D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0880" y="1856231"/>
            <a:ext cx="4297680" cy="21945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874519"/>
            <a:ext cx="4114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localhost:5279/Activos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  <a:latin typeface="Calibri"/>
              </a:rPr>
              <a:t>Inicio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2286000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  <a:latin typeface="Calibri"/>
              </a:rPr>
              <a:t>Incidentes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2286000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  <a:latin typeface="Calibri"/>
              </a:rPr>
              <a:t>Resumen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286000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  <a:latin typeface="Calibri"/>
              </a:rPr>
              <a:t>Bitácora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2286000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  <a:latin typeface="Calibri"/>
              </a:rPr>
              <a:t>Analistas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2286000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E293B"/>
                </a:solidFill>
                <a:latin typeface="Calibri"/>
              </a:rPr>
              <a:t>Más entidades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788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2788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29800" y="27889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4297679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92440" y="4297679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29800" y="4297679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29800" y="685800"/>
            <a:ext cx="1554480" cy="1554480"/>
          </a:xfrm>
          <a:prstGeom prst="ellipse">
            <a:avLst/>
          </a:prstGeom>
          <a:solidFill>
            <a:srgbClr val="1B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1508760"/>
            <a:ext cx="822960" cy="822960"/>
          </a:xfrm>
          <a:prstGeom prst="ellipse">
            <a:avLst/>
          </a:prstGeom>
          <a:solidFill>
            <a:srgbClr val="13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2057400"/>
            <a:ext cx="457200" cy="457200"/>
          </a:xfrm>
          <a:prstGeom prst="ellipse">
            <a:avLst/>
          </a:prstGeom>
          <a:solidFill>
            <a:srgbClr val="00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56032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5661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D9C5"/>
                </a:solidFill>
                <a:latin typeface="Calibri"/>
              </a:rPr>
              <a:t>SGISI — Sistema de Gestión de Incidentes de Seguridad Informática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B3D1"/>
                </a:solidFill>
                <a:latin typeface="Calibri"/>
              </a:rPr>
              <a:t>Base de Datos I (CBS04M)  ·  Universidad Nacional de Ingeniería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